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2556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PERFORMANCE DATA PROCESSING · SECP3133 · PROJECT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Sentiment Analysis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Apache Spark and Kafka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'n Go eWallet · Google Play Reviews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875520" y="457200"/>
            <a:ext cx="109728" cy="109728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Shape 5"/>
          <p:cNvSpPr/>
          <p:nvPr/>
        </p:nvSpPr>
        <p:spPr>
          <a:xfrm>
            <a:off x="10149840" y="457200"/>
            <a:ext cx="109728" cy="109728"/>
          </a:xfrm>
          <a:prstGeom prst="ellipse">
            <a:avLst/>
          </a:prstGeom>
          <a:solidFill>
            <a:srgbClr val="7F8C8D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10424160" y="457200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 Ziyaad bin Mohd Abbas  ·  A23CS0206  |  Universiti Teknologi Malaysia, Faculty of Computing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Sentiment Analysis, Why Real-Time?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need to understand public opinion the moment it's posted and not after a weekly report.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0" y="26517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640080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086600" y="2606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086600" y="29260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Malaysian-relevant review data at scale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35661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6400800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86600" y="3520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38404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/ Negative / Neutral sentiment automatically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0" y="44805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6400800" y="4480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086600" y="4434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86600" y="47548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incoming reviews continuously, not in batches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0" y="5394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/>
          <p:nvPr/>
        </p:nvSpPr>
        <p:spPr>
          <a:xfrm>
            <a:off x="6400800" y="5394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86600" y="5349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86600" y="56692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trends through an interactive dashboard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035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system: scrape → clean → classify → stream → store → dashboard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ACQUISITION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Source: Touch 'n Go eWallet Reviews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app?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28M+ Malaysian users can easily reaches 10,000 reviews</a:t>
            </a:r>
            <a:endParaRPr lang="en-US" sz="13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app → users write emotionally charged, opinionated reviews</a:t>
            </a:r>
            <a:endParaRPr lang="en-US" sz="13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Satisfies the brief's single primary data source requirement</a:t>
            </a:r>
            <a:endParaRPr lang="en-US" sz="135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 doubles as a free initial sentiment label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653796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Method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3317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8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0" y="23317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google-play-scraper (Python)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37960" y="30175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8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0" y="30175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reviews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37960" y="3703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8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0" y="37033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Relevant → fallback to Newest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37960" y="43891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8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sort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0" y="43891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longer, substantive reviews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37960" y="5074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8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0" y="50749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1-2★ neg · 3★ neutral · 4-5★ pos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ACQUISITION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Finding: Star Ratings Skew Negative Here</a:t>
            </a:r>
            <a:endParaRPr lang="en-US" sz="3000" dirty="0"/>
          </a:p>
        </p:txBody>
      </p:sp>
      <p:pic>
        <p:nvPicPr>
          <p:cNvPr id="4" name="Image 0" descr="/home/claude/pptx_build/charts/real_sentimen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5760720" cy="429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75120" y="1554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675120" y="20116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69.6% negative, 10.4% neutral, 20.1% positive which is not the 'mostly 5-star' pattern typical of app stores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Relevant sort surfaces detailed complaints over quick praise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(3★) is structurally rare and the hardest class to classify, even for humans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address this with class weighting in training, not data manipulation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691640" cy="1371600"/>
          </a:xfrm>
          <a:prstGeom prst="roundRect">
            <a:avLst>
              <a:gd name="adj" fmla="val 4000"/>
            </a:avLst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1792" y="3063240"/>
            <a:ext cx="15453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3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google-play-scraper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40280" y="2377440"/>
            <a:ext cx="228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95C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468880" y="2377440"/>
            <a:ext cx="1691640" cy="1371600"/>
          </a:xfrm>
          <a:prstGeom prst="roundRect">
            <a:avLst>
              <a:gd name="adj" fmla="val 4000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2468880" y="26060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542032" y="3063240"/>
            <a:ext cx="15453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3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preprocessing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60520" y="2377440"/>
            <a:ext cx="228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95C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389120" y="2377440"/>
            <a:ext cx="1691640" cy="1371600"/>
          </a:xfrm>
          <a:prstGeom prst="roundRect">
            <a:avLst>
              <a:gd name="adj" fmla="val 4000"/>
            </a:avLst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Text 11"/>
          <p:cNvSpPr/>
          <p:nvPr/>
        </p:nvSpPr>
        <p:spPr>
          <a:xfrm>
            <a:off x="4389120" y="26060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62272" y="3063240"/>
            <a:ext cx="15453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3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vs LSTM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80760" y="2377440"/>
            <a:ext cx="228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95C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309360" y="2377440"/>
            <a:ext cx="1691640" cy="1371600"/>
          </a:xfrm>
          <a:prstGeom prst="roundRect">
            <a:avLst>
              <a:gd name="adj" fmla="val 4000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6309360" y="26060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82512" y="3063240"/>
            <a:ext cx="15453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3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→ Spark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01000" y="2377440"/>
            <a:ext cx="228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95C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229600" y="2377440"/>
            <a:ext cx="1691640" cy="1371600"/>
          </a:xfrm>
          <a:prstGeom prst="roundRect">
            <a:avLst>
              <a:gd name="adj" fmla="val 4000"/>
            </a:avLst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1" name="Text 19"/>
          <p:cNvSpPr/>
          <p:nvPr/>
        </p:nvSpPr>
        <p:spPr>
          <a:xfrm>
            <a:off x="8229600" y="26060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02752" y="3063240"/>
            <a:ext cx="15453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3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921240" y="2377440"/>
            <a:ext cx="228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95C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0149840" y="2377440"/>
            <a:ext cx="1691640" cy="1371600"/>
          </a:xfrm>
          <a:prstGeom prst="roundRect">
            <a:avLst>
              <a:gd name="adj" fmla="val 4000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5" name="Text 23"/>
          <p:cNvSpPr/>
          <p:nvPr/>
        </p:nvSpPr>
        <p:spPr>
          <a:xfrm>
            <a:off x="10149840" y="26060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222992" y="3063240"/>
            <a:ext cx="15453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3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dashboard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4196909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5029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548640" y="5669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collected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91840" y="5029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9,979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3291840" y="5669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035040" y="5029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6035040" y="5669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778240" y="5029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8778240" y="5669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classes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Preprocessing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70992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 &amp; strip URLs/mentions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54380" y="2103120"/>
            <a:ext cx="0" cy="36576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4871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punctuation &amp; numbers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54380" y="2880360"/>
            <a:ext cx="0" cy="36576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3" name="Text 11"/>
          <p:cNvSpPr/>
          <p:nvPr/>
        </p:nvSpPr>
        <p:spPr>
          <a:xfrm>
            <a:off x="548640" y="3246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326440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 into words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54380" y="3657600"/>
            <a:ext cx="0" cy="36576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548640" y="4023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404164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English stopwords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54380" y="4434840"/>
            <a:ext cx="0" cy="36576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1" name="Text 19"/>
          <p:cNvSpPr/>
          <p:nvPr/>
        </p:nvSpPr>
        <p:spPr>
          <a:xfrm>
            <a:off x="548640" y="4800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481888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Lemmatize (crashing → crash)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760720" y="1554480"/>
            <a:ext cx="58521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4" name="Text 22"/>
          <p:cNvSpPr/>
          <p:nvPr/>
        </p:nvSpPr>
        <p:spPr>
          <a:xfrm>
            <a:off x="6080760" y="17830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transformation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80760" y="2286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80760" y="256032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 keeps CRASHING!! Can't login, useless 😤"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80760" y="3383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80760" y="365760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 keep crash cant login useless"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080760" y="46634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9,979 / 10,000 reviews retained after cleaning + deduplication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080760" y="512064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 mapped to sentiment: 1-2★ negative · 3★ neutral · 4-5★ positive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Bayes vs LSTM — Held-Out Test Set</a:t>
            </a:r>
            <a:endParaRPr lang="en-US" sz="3000" dirty="0"/>
          </a:p>
        </p:txBody>
      </p:sp>
      <p:pic>
        <p:nvPicPr>
          <p:cNvPr id="4" name="Image 0" descr="/home/claude/pptx_build/charts/real_model_comparison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6035040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0" y="1600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686800" y="16002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241280" y="16002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858000" y="2011680"/>
            <a:ext cx="46634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Text 6"/>
          <p:cNvSpPr/>
          <p:nvPr/>
        </p:nvSpPr>
        <p:spPr>
          <a:xfrm>
            <a:off x="6858000" y="21488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0" y="21488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0.580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241280" y="21488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0.484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858000" y="26974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686800" y="26974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0.684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241280" y="26974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858000" y="3246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time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686800" y="32461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~0.01s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241280" y="3246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858000" y="3794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(998 rows)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686800" y="3794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241280" y="37947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1.35s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675120" y="466344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selected for deployment, better Macro F1, dramatically faster, and (critically) actually predicts the neutral class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Naive Bayes Wins: The Neutral Class</a:t>
            </a:r>
            <a:endParaRPr lang="en-US" sz="3000" dirty="0"/>
          </a:p>
        </p:txBody>
      </p:sp>
      <p:pic>
        <p:nvPicPr>
          <p:cNvPr id="4" name="Image 0" descr="/home/claude/pptx_build/charts/real_nb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5212080" cy="4297680"/>
          </a:xfrm>
          <a:prstGeom prst="rect">
            <a:avLst/>
          </a:prstGeom>
        </p:spPr>
      </p:pic>
      <p:pic>
        <p:nvPicPr>
          <p:cNvPr id="5" name="Image 1" descr="/home/claude/pptx_build/charts/real_lstm_confus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1417320"/>
            <a:ext cx="5212080" cy="42976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580644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Text 3"/>
          <p:cNvSpPr/>
          <p:nvPr/>
        </p:nvSpPr>
        <p:spPr>
          <a:xfrm>
            <a:off x="731520" y="580644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correctly identifies 45 of 103 neutral reviews (44%).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identifies 0 but it never once predicts "neutral", regardless of class weighting.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Genuine Methodological Finding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Class-weighting recipes don't transfer cleanly across model families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31720" y="2240280"/>
            <a:ext cx="8778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'balanced' class_weight applied to LSTM caused it to collapse when predicting only the majority class (negative). Macro F1 fell to 0.27.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61188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548640" y="36118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31720" y="3566160"/>
            <a:ext cx="8778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trained the identical architecture with NO weighting at all. It trained normally proving the weighting mechanism itself, not the data or architecture, was destabilizing gradient descent.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93776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27AE60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548640" y="4937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31720" y="4892040"/>
            <a:ext cx="8778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Square-root-dampened sample weights + extended training patience let the optimizer escape the majority-class shortcut. Macro F1 rose to ~0.48.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Classification with Kafka &amp; Spark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6517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3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reviews to Kafka topic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3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controlled rate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1737360"/>
            <a:ext cx="320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37560" y="173736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3474720" y="19659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Topic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74720" y="26517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3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tng_reviews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3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buffers incoming messages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06440" y="1737360"/>
            <a:ext cx="320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126480" y="173736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Text 11"/>
          <p:cNvSpPr/>
          <p:nvPr/>
        </p:nvSpPr>
        <p:spPr>
          <a:xfrm>
            <a:off x="6263640" y="19659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Structured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63640" y="26517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3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Consumes, parses JSON,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3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trained model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95360" y="1737360"/>
            <a:ext cx="320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915400" y="173736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9052560" y="19659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Output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052560" y="26517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3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sentiment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3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review, in real time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977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broadcast variable?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4389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Naive Bayes model is loaded once and broadcast to all Spark executors thus avoiding the cost of reloading it for every single incoming review.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120640"/>
            <a:ext cx="10515600" cy="1188720"/>
          </a:xfrm>
          <a:prstGeom prst="roundRect">
            <a:avLst>
              <a:gd name="adj" fmla="val 4615"/>
            </a:avLst>
          </a:prstGeom>
          <a:solidFill>
            <a:srgbClr val="F4F7F9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822960" y="5257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live classification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5532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"used main ewallet suddenly dont allow quick payment..."  →  negative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5897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"good app but please fix the slow update issue"  →  neutral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vs. Streaming: A Real Throughput Tradeoff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0352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03520" cy="640080"/>
          </a:xfrm>
          <a:prstGeom prst="roundRect">
            <a:avLst>
              <a:gd name="adj" fmla="val 1142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03520" cy="3200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MODE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9,979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91840" y="25877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classified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33832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0.20s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91840" y="35478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time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43434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49,686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291840" y="45079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/ second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26480" y="1554480"/>
            <a:ext cx="530352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5" name="Shape 13"/>
          <p:cNvSpPr/>
          <p:nvPr/>
        </p:nvSpPr>
        <p:spPr>
          <a:xfrm>
            <a:off x="6126480" y="1554480"/>
            <a:ext cx="5303520" cy="640080"/>
          </a:xfrm>
          <a:prstGeom prst="roundRect">
            <a:avLst>
              <a:gd name="adj" fmla="val 11429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6" name="Shape 14"/>
          <p:cNvSpPr/>
          <p:nvPr/>
        </p:nvSpPr>
        <p:spPr>
          <a:xfrm>
            <a:off x="6126480" y="1874520"/>
            <a:ext cx="5303520" cy="3200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6126480" y="155448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(Kafka + Spark)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0" y="24231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3,000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869680" y="25877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classified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0" y="33832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4.98s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869680" y="35478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time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0" y="43434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636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869680" y="45079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/ second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56692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wins on raw throughput (~78×) because it has no per-message network round-trip or micro-batch scheduling overhead. Streaming wins on latency where insights are available within seconds of a review being posted, not after the next scheduled job.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&amp; Interactive Dashboard</a:t>
            </a:r>
            <a:endParaRPr lang="en-US" sz="3000" dirty="0"/>
          </a:p>
        </p:txBody>
      </p:sp>
      <p:pic>
        <p:nvPicPr>
          <p:cNvPr id="4" name="Image 0" descr="/home/claude/pptx_build/charts/real_wordclou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08760"/>
            <a:ext cx="7315200" cy="3017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01000" y="150876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Text 3"/>
          <p:cNvSpPr/>
          <p:nvPr/>
        </p:nvSpPr>
        <p:spPr>
          <a:xfrm>
            <a:off x="8229600" y="1691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Index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0" y="2194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stored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0241280" y="2194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9,979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0" y="276148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(predicted)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0241280" y="276148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5,559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0" y="332841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(predicted)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0241280" y="332841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2,420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29600" y="389534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(predicted)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0241280" y="389534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47091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built with Plotly (interactive hover/zoom) — sentiment pie chart, time-series trend, and word clouds, satisfying the brief's visualization requirements without a Kibana/ngrok networking dependency.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5577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by Section 10 alongside Kibana — Matplotlib, Seaborn, Plotly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Built, What We Learned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1051560" y="193852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3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working real-time sentiment pipeline — scrape, clean, train, stream, store, visualize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88036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1051560" y="271576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3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outperforms LSTM on this dataset — faster, and genuinely usable across all 3 classes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365760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1051560" y="349300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3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and model-family interactions are real engineering problems, not footnotes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443484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/>
          <p:nvPr/>
        </p:nvSpPr>
        <p:spPr>
          <a:xfrm>
            <a:off x="1051560" y="427024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3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trades raw throughput for low latency — a deliberate, measurable tradeoff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55778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3152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991</TotalTime>
  <Words>954</Words>
  <Application>Microsoft Office PowerPoint</Application>
  <PresentationFormat>Widescreen</PresentationFormat>
  <Paragraphs>207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Sentiment Analysis using Apache Spark and Kafka</dc:title>
  <dc:subject>PptxGenJS Presentation</dc:subject>
  <dc:creator>Ahmad Ziyaad bin Mohd Abbas</dc:creator>
  <cp:lastModifiedBy>Lol Ziyaad</cp:lastModifiedBy>
  <cp:revision>3</cp:revision>
  <dcterms:created xsi:type="dcterms:W3CDTF">2026-06-22T10:24:19Z</dcterms:created>
  <dcterms:modified xsi:type="dcterms:W3CDTF">2026-06-23T03:34:15Z</dcterms:modified>
</cp:coreProperties>
</file>