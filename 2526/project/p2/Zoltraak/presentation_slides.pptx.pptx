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Medium" charset="1" panose="00000600000000000000"/>
      <p:regular r:id="rId24"/>
    </p:embeddedFont>
    <p:embeddedFont>
      <p:font typeface="Playfair Display Bold" charset="1" panose="00000000000000000000"/>
      <p:regular r:id="rId25"/>
    </p:embeddedFont>
    <p:embeddedFont>
      <p:font typeface="Montserrat" charset="1" panose="00000500000000000000"/>
      <p:regular r:id="rId26"/>
    </p:embeddedFont>
    <p:embeddedFont>
      <p:font typeface="Montserrat Bold" charset="1" panose="00000800000000000000"/>
      <p:regular r:id="rId27"/>
    </p:embeddedFont>
    <p:embeddedFont>
      <p:font typeface="Montserrat Italic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4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4625" y="7370340"/>
            <a:ext cx="12858750" cy="1000125"/>
            <a:chOff x="0" y="0"/>
            <a:chExt cx="17145000" cy="1333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7145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42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0" y="887606"/>
            <a:ext cx="4572000" cy="1528096"/>
            <a:chOff x="0" y="0"/>
            <a:chExt cx="6096000" cy="2037461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096000" cy="2037461"/>
            </a:xfrm>
            <a:custGeom>
              <a:avLst/>
              <a:gdLst/>
              <a:ahLst/>
              <a:cxnLst/>
              <a:rect r="r" b="b" t="t" l="l"/>
              <a:pathLst>
                <a:path h="2037461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37461"/>
                  </a:lnTo>
                  <a:lnTo>
                    <a:pt x="0" y="2037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97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315075" y="3187227"/>
            <a:ext cx="5657850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8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Faculty of Computing | SECP3133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23198" y="3658714"/>
            <a:ext cx="12841605" cy="209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4"/>
              </a:lnSpc>
            </a:pPr>
            <a:r>
              <a:rPr lang="en-US" b="true" sz="72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YouTube Sentiment Analysis:</a:t>
            </a:r>
          </a:p>
          <a:p>
            <a:pPr algn="ctr">
              <a:lnSpc>
                <a:spcPts val="9504"/>
              </a:lnSpc>
            </a:pPr>
            <a:r>
              <a:rPr lang="en-US" b="true" sz="72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Cost of Living in Malaysia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91746" y="6384503"/>
            <a:ext cx="7504509" cy="40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47556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 Performance Data Processing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15012" y="8941965"/>
            <a:ext cx="66579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LECTURER: PROF. MADYA. TS. DR MOHD SHAHIZAN BIN OTHMAN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14625" y="7827540"/>
            <a:ext cx="409559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Afiq Danial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A23CS0117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5973" y="7827540"/>
            <a:ext cx="409582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Adib Zikri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A23CS0205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77549" y="7827540"/>
            <a:ext cx="409559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Dheshieghan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A23CS0072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8750" y="857250"/>
            <a:ext cx="165020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Background &amp; Context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43000" y="3332559"/>
            <a:ext cx="7572375" cy="2182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2475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Social media platforms generate vast amounts of unstructured public opinion daily. YouTube's comment section provides spontaneous, raw feedback on national issues.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6086475"/>
            <a:ext cx="7572375" cy="2182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2475">
                <a:solidFill>
                  <a:srgbClr val="8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project focuses on identifying sentiments regarding the </a:t>
            </a:r>
            <a:r>
              <a:rPr lang="en-US" b="true" sz="2475">
                <a:solidFill>
                  <a:srgbClr val="8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Cost of Living in Malaysia (2025-2026)</a:t>
            </a:r>
            <a:r>
              <a:rPr lang="en-US" b="true" sz="2475">
                <a:solidFill>
                  <a:srgbClr val="8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capturing public concerns about inflation, migration, and quality of life at scale.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72625" y="3028950"/>
            <a:ext cx="7572375" cy="5715000"/>
            <a:chOff x="0" y="0"/>
            <a:chExt cx="10096500" cy="7620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100965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937109"/>
          <a:ext cx="16002000" cy="5897880"/>
        </p:xfrm>
        <a:graphic>
          <a:graphicData uri="http://schemas.openxmlformats.org/drawingml/2006/table">
            <a:tbl>
              <a:tblPr/>
              <a:tblGrid>
                <a:gridCol w="6406495"/>
                <a:gridCol w="9595505"/>
              </a:tblGrid>
              <a:tr h="8376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Video Title Reference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Context &amp; Focus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</a:tr>
              <a:tr h="8376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of Living in Malaysia per Month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Focuses on relocation expenses for expat families.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376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Singapore vs Malaysia: 2026 Comparison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analysis between neighboring economies.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</a:tr>
              <a:tr h="8490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INFLASI: Singapura Gusar, Malaysia Henti Eksport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Economic friction and supply chain disruptions.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376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Pros &amp; Cons of Living in KL (2025)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Affordability, tax-friendly policies, and drawbacks.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</a:tr>
              <a:tr h="8490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Pros &amp; Cons of Living in Malaysia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Examines the broad lifestyle adjustments, visa considerations, and everyday pros and cons of making in Malaysia.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490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of Living in Malaysia 2026: The Real Numbers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Focusing on budgeting for each lifestyles.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1143000" y="5414962"/>
            <a:ext cx="6400800" cy="14288"/>
            <a:chOff x="0" y="0"/>
            <a:chExt cx="8534400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3800" y="5414962"/>
            <a:ext cx="9601200" cy="14288"/>
            <a:chOff x="0" y="0"/>
            <a:chExt cx="1280160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3000" y="6172200"/>
            <a:ext cx="6400800" cy="14288"/>
            <a:chOff x="0" y="0"/>
            <a:chExt cx="8534400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43800" y="6172200"/>
            <a:ext cx="9601200" cy="14288"/>
            <a:chOff x="0" y="0"/>
            <a:chExt cx="128016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7243762"/>
            <a:ext cx="6400800" cy="14288"/>
            <a:chOff x="0" y="0"/>
            <a:chExt cx="85344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543800" y="7243762"/>
            <a:ext cx="9601200" cy="14288"/>
            <a:chOff x="0" y="0"/>
            <a:chExt cx="12801600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3000" y="8001000"/>
            <a:ext cx="6400800" cy="14288"/>
            <a:chOff x="0" y="0"/>
            <a:chExt cx="85344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543800" y="8001000"/>
            <a:ext cx="9601200" cy="14288"/>
            <a:chOff x="0" y="0"/>
            <a:chExt cx="12801600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28750" y="857250"/>
            <a:ext cx="165020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Primary Data Sources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3000" y="2464593"/>
            <a:ext cx="16002000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Scraped from 6 High-Engagement YouTube Videos: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9129712"/>
            <a:ext cx="1600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1E293B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Total raw dataset: 5,388 records including metadata.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5414962"/>
            <a:ext cx="6400800" cy="14288"/>
            <a:chOff x="0" y="0"/>
            <a:chExt cx="853440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3800" y="5414962"/>
            <a:ext cx="9601200" cy="14288"/>
            <a:chOff x="0" y="0"/>
            <a:chExt cx="128016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6172200"/>
            <a:ext cx="6400800" cy="14288"/>
            <a:chOff x="0" y="0"/>
            <a:chExt cx="85344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3800" y="6172200"/>
            <a:ext cx="9601200" cy="14288"/>
            <a:chOff x="0" y="0"/>
            <a:chExt cx="128016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0" y="7243762"/>
            <a:ext cx="6400800" cy="14288"/>
            <a:chOff x="0" y="0"/>
            <a:chExt cx="85344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43800" y="7243762"/>
            <a:ext cx="9601200" cy="14288"/>
            <a:chOff x="0" y="0"/>
            <a:chExt cx="128016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3000" y="8001000"/>
            <a:ext cx="6400800" cy="14288"/>
            <a:chOff x="0" y="0"/>
            <a:chExt cx="85344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0" y="8001000"/>
            <a:ext cx="9601200" cy="14288"/>
            <a:chOff x="0" y="0"/>
            <a:chExt cx="128016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761742" y="2514600"/>
            <a:ext cx="6535699" cy="2819920"/>
          </a:xfrm>
          <a:custGeom>
            <a:avLst/>
            <a:gdLst/>
            <a:ahLst/>
            <a:cxnLst/>
            <a:rect r="r" b="b" t="t" l="l"/>
            <a:pathLst>
              <a:path h="2819920" w="6535699">
                <a:moveTo>
                  <a:pt x="0" y="0"/>
                </a:moveTo>
                <a:lnTo>
                  <a:pt x="6535698" y="0"/>
                </a:lnTo>
                <a:lnTo>
                  <a:pt x="6535698" y="2819920"/>
                </a:lnTo>
                <a:lnTo>
                  <a:pt x="0" y="2819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025591" y="2514600"/>
            <a:ext cx="7233709" cy="2867285"/>
          </a:xfrm>
          <a:custGeom>
            <a:avLst/>
            <a:gdLst/>
            <a:ahLst/>
            <a:cxnLst/>
            <a:rect r="r" b="b" t="t" l="l"/>
            <a:pathLst>
              <a:path h="2867285" w="7233709">
                <a:moveTo>
                  <a:pt x="0" y="0"/>
                </a:moveTo>
                <a:lnTo>
                  <a:pt x="7233709" y="0"/>
                </a:lnTo>
                <a:lnTo>
                  <a:pt x="7233709" y="2867285"/>
                </a:lnTo>
                <a:lnTo>
                  <a:pt x="0" y="2867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991030" y="5674407"/>
            <a:ext cx="7013784" cy="3903542"/>
          </a:xfrm>
          <a:custGeom>
            <a:avLst/>
            <a:gdLst/>
            <a:ahLst/>
            <a:cxnLst/>
            <a:rect r="r" b="b" t="t" l="l"/>
            <a:pathLst>
              <a:path h="3903542" w="7013784">
                <a:moveTo>
                  <a:pt x="0" y="0"/>
                </a:moveTo>
                <a:lnTo>
                  <a:pt x="7013784" y="0"/>
                </a:lnTo>
                <a:lnTo>
                  <a:pt x="7013784" y="3903542"/>
                </a:lnTo>
                <a:lnTo>
                  <a:pt x="0" y="3903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28750" y="857250"/>
            <a:ext cx="165020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Primary Data Sources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8750" y="857250"/>
            <a:ext cx="16502062" cy="81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Preprocessing Pipeline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3000" y="2671762"/>
            <a:ext cx="7572375" cy="6429375"/>
            <a:chOff x="0" y="0"/>
            <a:chExt cx="10096500" cy="85725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00965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44138" y="3276600"/>
            <a:ext cx="690086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Noise Removal:</a:t>
            </a:r>
            <a:r>
              <a:rPr lang="en-US" sz="225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HTML entity decoding, URL stripping, @mention removal, and digit collapsing.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01275" y="4662487"/>
            <a:ext cx="694372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Tokenization:</a:t>
            </a:r>
            <a:r>
              <a:rPr lang="en-US" sz="225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Splitting cleaned text into individual word tokens via NLTK word_tokenize().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01275" y="6048375"/>
            <a:ext cx="694372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Stop Word Removal:</a:t>
            </a:r>
            <a:r>
              <a:rPr lang="en-US" sz="225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Combining 198 English and 1,057 Malay stop words using the Malaya library.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4138" y="7434263"/>
            <a:ext cx="690086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Lemmatization:</a:t>
            </a:r>
            <a:r>
              <a:rPr lang="en-US" sz="225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Base dictionary form reduction (English only) via spaCy en_core_web_sm.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72625" y="3328988"/>
            <a:ext cx="385762" cy="371475"/>
            <a:chOff x="0" y="0"/>
            <a:chExt cx="514350" cy="4953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514350" cy="495300"/>
            </a:xfrm>
            <a:custGeom>
              <a:avLst/>
              <a:gdLst/>
              <a:ahLst/>
              <a:cxnLst/>
              <a:rect r="r" b="b" t="t" l="l"/>
              <a:pathLst>
                <a:path h="4953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72625" y="4714875"/>
            <a:ext cx="342900" cy="371475"/>
            <a:chOff x="0" y="0"/>
            <a:chExt cx="457200" cy="4953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72625" y="6100762"/>
            <a:ext cx="342900" cy="371475"/>
            <a:chOff x="0" y="0"/>
            <a:chExt cx="457200" cy="4953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72625" y="7486650"/>
            <a:ext cx="385762" cy="371475"/>
            <a:chOff x="0" y="0"/>
            <a:chExt cx="514350" cy="4953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514350" cy="495300"/>
            </a:xfrm>
            <a:custGeom>
              <a:avLst/>
              <a:gdLst/>
              <a:ahLst/>
              <a:cxnLst/>
              <a:rect r="r" b="b" t="t" l="l"/>
              <a:pathLst>
                <a:path h="4953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5414962"/>
            <a:ext cx="6400800" cy="14288"/>
            <a:chOff x="0" y="0"/>
            <a:chExt cx="853440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3800" y="5414962"/>
            <a:ext cx="9601200" cy="14288"/>
            <a:chOff x="0" y="0"/>
            <a:chExt cx="128016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6172200"/>
            <a:ext cx="6400800" cy="14288"/>
            <a:chOff x="0" y="0"/>
            <a:chExt cx="85344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3800" y="6172200"/>
            <a:ext cx="9601200" cy="14288"/>
            <a:chOff x="0" y="0"/>
            <a:chExt cx="128016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0" y="7243762"/>
            <a:ext cx="6400800" cy="14288"/>
            <a:chOff x="0" y="0"/>
            <a:chExt cx="85344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43800" y="7243762"/>
            <a:ext cx="9601200" cy="14288"/>
            <a:chOff x="0" y="0"/>
            <a:chExt cx="128016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3000" y="8001000"/>
            <a:ext cx="6400800" cy="14288"/>
            <a:chOff x="0" y="0"/>
            <a:chExt cx="85344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34400" cy="19050"/>
            </a:xfrm>
            <a:custGeom>
              <a:avLst/>
              <a:gdLst/>
              <a:ahLst/>
              <a:cxnLst/>
              <a:rect r="r" b="b" t="t" l="l"/>
              <a:pathLst>
                <a:path h="190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0" y="8001000"/>
            <a:ext cx="9601200" cy="14288"/>
            <a:chOff x="0" y="0"/>
            <a:chExt cx="128016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00" cy="19050"/>
            </a:xfrm>
            <a:custGeom>
              <a:avLst/>
              <a:gdLst/>
              <a:ahLst/>
              <a:cxnLst/>
              <a:rect r="r" b="b" t="t" l="l"/>
              <a:pathLst>
                <a:path h="1905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98574" y="2315195"/>
            <a:ext cx="8086241" cy="2868921"/>
          </a:xfrm>
          <a:custGeom>
            <a:avLst/>
            <a:gdLst/>
            <a:ahLst/>
            <a:cxnLst/>
            <a:rect r="r" b="b" t="t" l="l"/>
            <a:pathLst>
              <a:path h="2868921" w="8086241">
                <a:moveTo>
                  <a:pt x="0" y="0"/>
                </a:moveTo>
                <a:lnTo>
                  <a:pt x="8086241" y="0"/>
                </a:lnTo>
                <a:lnTo>
                  <a:pt x="8086241" y="2868920"/>
                </a:lnTo>
                <a:lnTo>
                  <a:pt x="0" y="2868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796384" y="4057905"/>
            <a:ext cx="8462916" cy="5620892"/>
          </a:xfrm>
          <a:custGeom>
            <a:avLst/>
            <a:gdLst/>
            <a:ahLst/>
            <a:cxnLst/>
            <a:rect r="r" b="b" t="t" l="l"/>
            <a:pathLst>
              <a:path h="5620892" w="8462916">
                <a:moveTo>
                  <a:pt x="0" y="0"/>
                </a:moveTo>
                <a:lnTo>
                  <a:pt x="8462916" y="0"/>
                </a:lnTo>
                <a:lnTo>
                  <a:pt x="8462916" y="5620892"/>
                </a:lnTo>
                <a:lnTo>
                  <a:pt x="0" y="5620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28750" y="857250"/>
            <a:ext cx="16502062" cy="81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Preprocessing Pipeline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3549777"/>
            <a:ext cx="7572375" cy="4673346"/>
            <a:chOff x="0" y="0"/>
            <a:chExt cx="10096500" cy="623112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096500" cy="6231128"/>
            </a:xfrm>
            <a:custGeom>
              <a:avLst/>
              <a:gdLst/>
              <a:ahLst/>
              <a:cxnLst/>
              <a:rect r="r" b="b" t="t" l="l"/>
              <a:pathLst>
                <a:path h="6231128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6231128"/>
                  </a:lnTo>
                  <a:lnTo>
                    <a:pt x="0" y="6231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2625" y="3549777"/>
            <a:ext cx="7572375" cy="4673346"/>
            <a:chOff x="0" y="0"/>
            <a:chExt cx="10096500" cy="623112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096500" cy="6231128"/>
            </a:xfrm>
            <a:custGeom>
              <a:avLst/>
              <a:gdLst/>
              <a:ahLst/>
              <a:cxnLst/>
              <a:rect r="r" b="b" t="t" l="l"/>
              <a:pathLst>
                <a:path h="6231128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6231128"/>
                  </a:lnTo>
                  <a:lnTo>
                    <a:pt x="0" y="6231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7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4500" y="5864352"/>
            <a:ext cx="6429375" cy="958596"/>
            <a:chOff x="0" y="0"/>
            <a:chExt cx="8572500" cy="127812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572500" cy="1278128"/>
            </a:xfrm>
            <a:custGeom>
              <a:avLst/>
              <a:gdLst/>
              <a:ahLst/>
              <a:cxnLst/>
              <a:rect r="r" b="b" t="t" l="l"/>
              <a:pathLst>
                <a:path h="1278128" w="8572500">
                  <a:moveTo>
                    <a:pt x="0" y="0"/>
                  </a:moveTo>
                  <a:lnTo>
                    <a:pt x="8572500" y="0"/>
                  </a:lnTo>
                  <a:lnTo>
                    <a:pt x="8572500" y="1278128"/>
                  </a:lnTo>
                  <a:lnTo>
                    <a:pt x="0" y="1278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35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28750" y="857250"/>
            <a:ext cx="165020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Sentiment Modeling Approach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14500" y="4121277"/>
            <a:ext cx="6750844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106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SVM Classifier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500" y="4764214"/>
            <a:ext cx="6429375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Uses </a:t>
            </a:r>
            <a:r>
              <a:rPr lang="en-US" b="true" sz="180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TF-IDF Vectorization</a:t>
            </a: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with 5,000 features. Finds the optimal hyperplane in high-dimensional sparse space.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4500" y="7108698"/>
            <a:ext cx="64293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Efficient for short text data with distinct keywords.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44125" y="4121277"/>
            <a:ext cx="6750844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106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LSTM Neural Network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44125" y="4764214"/>
            <a:ext cx="6429375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 type of RNN designed to learn long-range sequential dependencies. Processes text as ordered tokens to capture semantics.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44125" y="6850190"/>
            <a:ext cx="6429375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B9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Finding: Prone to overfitting on small datasets.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976392" y="6221540"/>
            <a:ext cx="1905591" cy="287084"/>
            <a:chOff x="0" y="0"/>
            <a:chExt cx="2540787" cy="382778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540762" cy="382778"/>
            </a:xfrm>
            <a:custGeom>
              <a:avLst/>
              <a:gdLst/>
              <a:ahLst/>
              <a:cxnLst/>
              <a:rect r="r" b="b" t="t" l="l"/>
              <a:pathLst>
                <a:path h="382778" w="2540762">
                  <a:moveTo>
                    <a:pt x="0" y="0"/>
                  </a:moveTo>
                  <a:lnTo>
                    <a:pt x="2540762" y="0"/>
                  </a:lnTo>
                  <a:lnTo>
                    <a:pt x="2540762" y="382778"/>
                  </a:lnTo>
                  <a:lnTo>
                    <a:pt x="0" y="382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402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358438" y="5785771"/>
            <a:ext cx="71438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7500" y="5807202"/>
            <a:ext cx="6096000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10,000 word vocabulary.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58438" y="6057233"/>
            <a:ext cx="71438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77500" y="6078664"/>
            <a:ext cx="6096000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Max sequence length: 100.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58438" y="6328696"/>
            <a:ext cx="71438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77500" y="6350127"/>
            <a:ext cx="6096000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Dense 3-class categorical output.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89167" y="3054167"/>
            <a:ext cx="8001458" cy="5146569"/>
          </a:xfrm>
          <a:custGeom>
            <a:avLst/>
            <a:gdLst/>
            <a:ahLst/>
            <a:cxnLst/>
            <a:rect r="r" b="b" t="t" l="l"/>
            <a:pathLst>
              <a:path h="5146569" w="8001458">
                <a:moveTo>
                  <a:pt x="0" y="0"/>
                </a:moveTo>
                <a:lnTo>
                  <a:pt x="8001458" y="0"/>
                </a:lnTo>
                <a:lnTo>
                  <a:pt x="8001458" y="5146569"/>
                </a:lnTo>
                <a:lnTo>
                  <a:pt x="0" y="51465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99766" y="2722681"/>
            <a:ext cx="7602499" cy="5983266"/>
          </a:xfrm>
          <a:custGeom>
            <a:avLst/>
            <a:gdLst/>
            <a:ahLst/>
            <a:cxnLst/>
            <a:rect r="r" b="b" t="t" l="l"/>
            <a:pathLst>
              <a:path h="5983266" w="7602499">
                <a:moveTo>
                  <a:pt x="0" y="0"/>
                </a:moveTo>
                <a:lnTo>
                  <a:pt x="7602500" y="0"/>
                </a:lnTo>
                <a:lnTo>
                  <a:pt x="7602500" y="5983266"/>
                </a:lnTo>
                <a:lnTo>
                  <a:pt x="0" y="5983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8750" y="857250"/>
            <a:ext cx="165020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Sentiment Modeling Approach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2343150"/>
            <a:ext cx="16002000" cy="7700962"/>
            <a:chOff x="0" y="0"/>
            <a:chExt cx="21336000" cy="102679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336000" cy="10267950"/>
            </a:xfrm>
            <a:custGeom>
              <a:avLst/>
              <a:gdLst/>
              <a:ahLst/>
              <a:cxnLst/>
              <a:rect r="r" b="b" t="t" l="l"/>
              <a:pathLst>
                <a:path h="102679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267950"/>
                  </a:lnTo>
                  <a:lnTo>
                    <a:pt x="0" y="10267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28750" y="857250"/>
            <a:ext cx="165020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 Comparison: SVM Wins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43000" y="9544050"/>
            <a:ext cx="16002000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47556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SVM shows superior generalization and lower computational overhead for real-time inference.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14500" y="1143000"/>
            <a:ext cx="69008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8750" y="1143000"/>
            <a:ext cx="114300" cy="914400"/>
            <a:chOff x="0" y="0"/>
            <a:chExt cx="1524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28750" y="2628900"/>
            <a:ext cx="7200900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106">
                <a:solidFill>
                  <a:srgbClr val="C5A059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ELK + Kafka/Spark Pipeline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3243262"/>
            <a:ext cx="68580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system follows a classic </a:t>
            </a:r>
            <a:r>
              <a:rPr lang="en-US" b="true" sz="2025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Lambda-style streaming architecture</a:t>
            </a:r>
            <a:r>
              <a:rPr lang="en-US" sz="2025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composed of five distinct layers: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7400" y="4762500"/>
            <a:ext cx="62293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Ingestion:</a:t>
            </a:r>
            <a:r>
              <a:rPr lang="en-US" sz="225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Apache Kafka decouples producers from consumers to handle data spikes.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57400" y="6148387"/>
            <a:ext cx="62293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Processing:</a:t>
            </a:r>
            <a:r>
              <a:rPr lang="en-US" sz="225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Spark Structured Streaming performs real-time micro-batch classification.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7400" y="7534275"/>
            <a:ext cx="62293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Storage:</a:t>
            </a:r>
            <a:r>
              <a:rPr lang="en-US" sz="225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Elasticsearch provides full-text indexing and near-instant aggregations.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7400" y="8577263"/>
            <a:ext cx="62293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Visualization:</a:t>
            </a:r>
            <a:r>
              <a:rPr lang="en-US" sz="225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Kibana creates interactive dashboards and live sentiment feeds.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28750" y="4814888"/>
            <a:ext cx="342900" cy="371475"/>
            <a:chOff x="0" y="0"/>
            <a:chExt cx="457200" cy="4953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28750" y="6200775"/>
            <a:ext cx="342900" cy="371475"/>
            <a:chOff x="0" y="0"/>
            <a:chExt cx="457200" cy="4953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28750" y="7586662"/>
            <a:ext cx="342900" cy="371475"/>
            <a:chOff x="0" y="0"/>
            <a:chExt cx="457200" cy="4953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8750" y="8629650"/>
            <a:ext cx="342900" cy="371475"/>
            <a:chOff x="0" y="0"/>
            <a:chExt cx="457200" cy="4953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2343150"/>
            <a:ext cx="16002000" cy="7086600"/>
            <a:chOff x="0" y="0"/>
            <a:chExt cx="21336000" cy="94488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336000" cy="9448800"/>
            </a:xfrm>
            <a:custGeom>
              <a:avLst/>
              <a:gdLst/>
              <a:ahLst/>
              <a:cxnLst/>
              <a:rect r="r" b="b" t="t" l="l"/>
              <a:pathLst>
                <a:path h="94488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448800"/>
                  </a:lnTo>
                  <a:lnTo>
                    <a:pt x="0" y="944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28750" y="857250"/>
            <a:ext cx="165020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Sentiment Analysis Results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8750" y="857250"/>
            <a:ext cx="165020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Performance Benchmarking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43000" y="3071812"/>
            <a:ext cx="16802100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106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Optimization: Batch vs. Streaming Mode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143000" y="3857625"/>
          <a:ext cx="15982950" cy="3905250"/>
        </p:xfrm>
        <a:graphic>
          <a:graphicData uri="http://schemas.openxmlformats.org/drawingml/2006/table">
            <a:tbl>
              <a:tblPr/>
              <a:tblGrid>
                <a:gridCol w="4225756"/>
                <a:gridCol w="2844939"/>
                <a:gridCol w="3618262"/>
                <a:gridCol w="5293993"/>
              </a:tblGrid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Performance Metric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Batch Mode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Streaming Mode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Finding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Processing Time (s)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1.452 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6.619 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Batch is 4.6x Faster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Throughput (Rec/s)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3,078.80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675.36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Optimized Bulk Ops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CPU Usage (%)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54.5 %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2.0 %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Streaming is Less Intensive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 Accuracy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0.923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0.908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E293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Consistency Maintained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059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428750" y="8201025"/>
            <a:ext cx="15716250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Micro-batching is essential for Spark to amortize TF-IDF transform overhead and reach higher throughput.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43000" y="8201025"/>
            <a:ext cx="57150" cy="271462"/>
            <a:chOff x="0" y="0"/>
            <a:chExt cx="76200" cy="361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361950"/>
            </a:xfrm>
            <a:custGeom>
              <a:avLst/>
              <a:gdLst/>
              <a:ahLst/>
              <a:cxnLst/>
              <a:rect r="r" b="b" t="t" l="l"/>
              <a:pathLst>
                <a:path h="361950" w="76200">
                  <a:moveTo>
                    <a:pt x="0" y="0"/>
                  </a:moveTo>
                  <a:lnTo>
                    <a:pt x="76200" y="0"/>
                  </a:lnTo>
                  <a:lnTo>
                    <a:pt x="76200" y="36195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8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0" y="5479256"/>
            <a:ext cx="4232443" cy="14288"/>
            <a:chOff x="0" y="0"/>
            <a:chExt cx="5643258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3245" cy="19050"/>
            </a:xfrm>
            <a:custGeom>
              <a:avLst/>
              <a:gdLst/>
              <a:ahLst/>
              <a:cxnLst/>
              <a:rect r="r" b="b" t="t" l="l"/>
              <a:pathLst>
                <a:path h="19050" w="5643245">
                  <a:moveTo>
                    <a:pt x="0" y="0"/>
                  </a:moveTo>
                  <a:lnTo>
                    <a:pt x="5643245" y="0"/>
                  </a:lnTo>
                  <a:lnTo>
                    <a:pt x="56432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75443" y="5479256"/>
            <a:ext cx="2840088" cy="14288"/>
            <a:chOff x="0" y="0"/>
            <a:chExt cx="3786784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86759" cy="19050"/>
            </a:xfrm>
            <a:custGeom>
              <a:avLst/>
              <a:gdLst/>
              <a:ahLst/>
              <a:cxnLst/>
              <a:rect r="r" b="b" t="t" l="l"/>
              <a:pathLst>
                <a:path h="19050" w="3786759">
                  <a:moveTo>
                    <a:pt x="0" y="0"/>
                  </a:moveTo>
                  <a:lnTo>
                    <a:pt x="3786759" y="0"/>
                  </a:lnTo>
                  <a:lnTo>
                    <a:pt x="37867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15532" y="5479256"/>
            <a:ext cx="3619871" cy="14288"/>
            <a:chOff x="0" y="0"/>
            <a:chExt cx="4826495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6508" cy="19050"/>
            </a:xfrm>
            <a:custGeom>
              <a:avLst/>
              <a:gdLst/>
              <a:ahLst/>
              <a:cxnLst/>
              <a:rect r="r" b="b" t="t" l="l"/>
              <a:pathLst>
                <a:path h="19050" w="4826508">
                  <a:moveTo>
                    <a:pt x="0" y="0"/>
                  </a:moveTo>
                  <a:lnTo>
                    <a:pt x="4826508" y="0"/>
                  </a:lnTo>
                  <a:lnTo>
                    <a:pt x="48265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835403" y="5479256"/>
            <a:ext cx="5309587" cy="14288"/>
            <a:chOff x="0" y="0"/>
            <a:chExt cx="707945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9488" cy="19050"/>
            </a:xfrm>
            <a:custGeom>
              <a:avLst/>
              <a:gdLst/>
              <a:ahLst/>
              <a:cxnLst/>
              <a:rect r="r" b="b" t="t" l="l"/>
              <a:pathLst>
                <a:path h="19050" w="7079488">
                  <a:moveTo>
                    <a:pt x="0" y="0"/>
                  </a:moveTo>
                  <a:lnTo>
                    <a:pt x="7079488" y="0"/>
                  </a:lnTo>
                  <a:lnTo>
                    <a:pt x="70794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6236494"/>
            <a:ext cx="4232443" cy="14288"/>
            <a:chOff x="0" y="0"/>
            <a:chExt cx="5643258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43245" cy="19050"/>
            </a:xfrm>
            <a:custGeom>
              <a:avLst/>
              <a:gdLst/>
              <a:ahLst/>
              <a:cxnLst/>
              <a:rect r="r" b="b" t="t" l="l"/>
              <a:pathLst>
                <a:path h="19050" w="5643245">
                  <a:moveTo>
                    <a:pt x="0" y="0"/>
                  </a:moveTo>
                  <a:lnTo>
                    <a:pt x="5643245" y="0"/>
                  </a:lnTo>
                  <a:lnTo>
                    <a:pt x="56432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375443" y="6236494"/>
            <a:ext cx="2840088" cy="14288"/>
            <a:chOff x="0" y="0"/>
            <a:chExt cx="3786784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86759" cy="19050"/>
            </a:xfrm>
            <a:custGeom>
              <a:avLst/>
              <a:gdLst/>
              <a:ahLst/>
              <a:cxnLst/>
              <a:rect r="r" b="b" t="t" l="l"/>
              <a:pathLst>
                <a:path h="19050" w="3786759">
                  <a:moveTo>
                    <a:pt x="0" y="0"/>
                  </a:moveTo>
                  <a:lnTo>
                    <a:pt x="3786759" y="0"/>
                  </a:lnTo>
                  <a:lnTo>
                    <a:pt x="37867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15532" y="6236494"/>
            <a:ext cx="3619871" cy="14288"/>
            <a:chOff x="0" y="0"/>
            <a:chExt cx="4826495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26508" cy="19050"/>
            </a:xfrm>
            <a:custGeom>
              <a:avLst/>
              <a:gdLst/>
              <a:ahLst/>
              <a:cxnLst/>
              <a:rect r="r" b="b" t="t" l="l"/>
              <a:pathLst>
                <a:path h="19050" w="4826508">
                  <a:moveTo>
                    <a:pt x="0" y="0"/>
                  </a:moveTo>
                  <a:lnTo>
                    <a:pt x="4826508" y="0"/>
                  </a:lnTo>
                  <a:lnTo>
                    <a:pt x="48265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35403" y="6236494"/>
            <a:ext cx="5309587" cy="14288"/>
            <a:chOff x="0" y="0"/>
            <a:chExt cx="7079450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9488" cy="19050"/>
            </a:xfrm>
            <a:custGeom>
              <a:avLst/>
              <a:gdLst/>
              <a:ahLst/>
              <a:cxnLst/>
              <a:rect r="r" b="b" t="t" l="l"/>
              <a:pathLst>
                <a:path h="19050" w="7079488">
                  <a:moveTo>
                    <a:pt x="0" y="0"/>
                  </a:moveTo>
                  <a:lnTo>
                    <a:pt x="7079488" y="0"/>
                  </a:lnTo>
                  <a:lnTo>
                    <a:pt x="70794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43000" y="6993731"/>
            <a:ext cx="4232443" cy="14288"/>
            <a:chOff x="0" y="0"/>
            <a:chExt cx="5643258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43245" cy="19050"/>
            </a:xfrm>
            <a:custGeom>
              <a:avLst/>
              <a:gdLst/>
              <a:ahLst/>
              <a:cxnLst/>
              <a:rect r="r" b="b" t="t" l="l"/>
              <a:pathLst>
                <a:path h="19050" w="5643245">
                  <a:moveTo>
                    <a:pt x="0" y="0"/>
                  </a:moveTo>
                  <a:lnTo>
                    <a:pt x="5643245" y="0"/>
                  </a:lnTo>
                  <a:lnTo>
                    <a:pt x="56432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375443" y="6993731"/>
            <a:ext cx="2840088" cy="14288"/>
            <a:chOff x="0" y="0"/>
            <a:chExt cx="3786784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86759" cy="19050"/>
            </a:xfrm>
            <a:custGeom>
              <a:avLst/>
              <a:gdLst/>
              <a:ahLst/>
              <a:cxnLst/>
              <a:rect r="r" b="b" t="t" l="l"/>
              <a:pathLst>
                <a:path h="19050" w="3786759">
                  <a:moveTo>
                    <a:pt x="0" y="0"/>
                  </a:moveTo>
                  <a:lnTo>
                    <a:pt x="3786759" y="0"/>
                  </a:lnTo>
                  <a:lnTo>
                    <a:pt x="37867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15532" y="6993731"/>
            <a:ext cx="3619871" cy="14288"/>
            <a:chOff x="0" y="0"/>
            <a:chExt cx="4826495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26508" cy="19050"/>
            </a:xfrm>
            <a:custGeom>
              <a:avLst/>
              <a:gdLst/>
              <a:ahLst/>
              <a:cxnLst/>
              <a:rect r="r" b="b" t="t" l="l"/>
              <a:pathLst>
                <a:path h="19050" w="4826508">
                  <a:moveTo>
                    <a:pt x="0" y="0"/>
                  </a:moveTo>
                  <a:lnTo>
                    <a:pt x="4826508" y="0"/>
                  </a:lnTo>
                  <a:lnTo>
                    <a:pt x="48265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835403" y="6993731"/>
            <a:ext cx="5309587" cy="14288"/>
            <a:chOff x="0" y="0"/>
            <a:chExt cx="7079450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79488" cy="19050"/>
            </a:xfrm>
            <a:custGeom>
              <a:avLst/>
              <a:gdLst/>
              <a:ahLst/>
              <a:cxnLst/>
              <a:rect r="r" b="b" t="t" l="l"/>
              <a:pathLst>
                <a:path h="19050" w="7079488">
                  <a:moveTo>
                    <a:pt x="0" y="0"/>
                  </a:moveTo>
                  <a:lnTo>
                    <a:pt x="7079488" y="0"/>
                  </a:lnTo>
                  <a:lnTo>
                    <a:pt x="70794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43000" y="7750969"/>
            <a:ext cx="4232443" cy="14288"/>
            <a:chOff x="0" y="0"/>
            <a:chExt cx="5643258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43245" cy="19050"/>
            </a:xfrm>
            <a:custGeom>
              <a:avLst/>
              <a:gdLst/>
              <a:ahLst/>
              <a:cxnLst/>
              <a:rect r="r" b="b" t="t" l="l"/>
              <a:pathLst>
                <a:path h="19050" w="5643245">
                  <a:moveTo>
                    <a:pt x="0" y="0"/>
                  </a:moveTo>
                  <a:lnTo>
                    <a:pt x="5643245" y="0"/>
                  </a:lnTo>
                  <a:lnTo>
                    <a:pt x="56432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375443" y="7750969"/>
            <a:ext cx="2840088" cy="14288"/>
            <a:chOff x="0" y="0"/>
            <a:chExt cx="3786784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86759" cy="19050"/>
            </a:xfrm>
            <a:custGeom>
              <a:avLst/>
              <a:gdLst/>
              <a:ahLst/>
              <a:cxnLst/>
              <a:rect r="r" b="b" t="t" l="l"/>
              <a:pathLst>
                <a:path h="19050" w="3786759">
                  <a:moveTo>
                    <a:pt x="0" y="0"/>
                  </a:moveTo>
                  <a:lnTo>
                    <a:pt x="3786759" y="0"/>
                  </a:lnTo>
                  <a:lnTo>
                    <a:pt x="37867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15532" y="7750969"/>
            <a:ext cx="3619871" cy="14288"/>
            <a:chOff x="0" y="0"/>
            <a:chExt cx="4826495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26508" cy="19050"/>
            </a:xfrm>
            <a:custGeom>
              <a:avLst/>
              <a:gdLst/>
              <a:ahLst/>
              <a:cxnLst/>
              <a:rect r="r" b="b" t="t" l="l"/>
              <a:pathLst>
                <a:path h="19050" w="4826508">
                  <a:moveTo>
                    <a:pt x="0" y="0"/>
                  </a:moveTo>
                  <a:lnTo>
                    <a:pt x="4826508" y="0"/>
                  </a:lnTo>
                  <a:lnTo>
                    <a:pt x="48265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835403" y="7750969"/>
            <a:ext cx="5309587" cy="14288"/>
            <a:chOff x="0" y="0"/>
            <a:chExt cx="7079450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9488" cy="19050"/>
            </a:xfrm>
            <a:custGeom>
              <a:avLst/>
              <a:gdLst/>
              <a:ahLst/>
              <a:cxnLst/>
              <a:rect r="r" b="b" t="t" l="l"/>
              <a:pathLst>
                <a:path h="19050" w="7079488">
                  <a:moveTo>
                    <a:pt x="0" y="0"/>
                  </a:moveTo>
                  <a:lnTo>
                    <a:pt x="7079488" y="0"/>
                  </a:lnTo>
                  <a:lnTo>
                    <a:pt x="70794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71500"/>
            <a:ext cx="114300" cy="914400"/>
            <a:chOff x="0" y="0"/>
            <a:chExt cx="1524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316067" y="1810209"/>
            <a:ext cx="13263246" cy="7808736"/>
          </a:xfrm>
          <a:custGeom>
            <a:avLst/>
            <a:gdLst/>
            <a:ahLst/>
            <a:cxnLst/>
            <a:rect r="r" b="b" t="t" l="l"/>
            <a:pathLst>
              <a:path h="7808736" w="13263246">
                <a:moveTo>
                  <a:pt x="0" y="0"/>
                </a:moveTo>
                <a:lnTo>
                  <a:pt x="13263246" y="0"/>
                </a:lnTo>
                <a:lnTo>
                  <a:pt x="13263246" y="7808736"/>
                </a:lnTo>
                <a:lnTo>
                  <a:pt x="0" y="7808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4450" y="571500"/>
            <a:ext cx="1650206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DASHBOARD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5329238"/>
            <a:ext cx="16002000" cy="3314700"/>
            <a:chOff x="0" y="0"/>
            <a:chExt cx="21336000" cy="44196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336000" cy="4419600"/>
            </a:xfrm>
            <a:custGeom>
              <a:avLst/>
              <a:gdLst/>
              <a:ahLst/>
              <a:cxnLst/>
              <a:rect r="r" b="b" t="t" l="l"/>
              <a:pathLst>
                <a:path h="44196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419600"/>
                  </a:lnTo>
                  <a:lnTo>
                    <a:pt x="0" y="441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203747" y="4379119"/>
            <a:ext cx="5880602" cy="138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Thank You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8750" y="857250"/>
            <a:ext cx="165020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8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Image Sources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857250"/>
            <a:ext cx="114300" cy="914400"/>
            <a:chOff x="0" y="0"/>
            <a:chExt cx="1524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5A05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3000" y="4722019"/>
            <a:ext cx="16002000" cy="14288"/>
            <a:chOff x="0" y="0"/>
            <a:chExt cx="21336000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0" cy="19050"/>
            </a:xfrm>
            <a:custGeom>
              <a:avLst/>
              <a:gdLst/>
              <a:ahLst/>
              <a:cxnLst/>
              <a:rect r="r" b="b" t="t" l="l"/>
              <a:pathLst>
                <a:path h="190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3000" y="4722019"/>
            <a:ext cx="16002000" cy="14288"/>
            <a:chOff x="0" y="0"/>
            <a:chExt cx="2133600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36000" cy="19050"/>
            </a:xfrm>
            <a:custGeom>
              <a:avLst/>
              <a:gdLst/>
              <a:ahLst/>
              <a:cxnLst/>
              <a:rect r="r" b="b" t="t" l="l"/>
              <a:pathLst>
                <a:path h="190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3000" y="5879306"/>
            <a:ext cx="16002000" cy="14288"/>
            <a:chOff x="0" y="0"/>
            <a:chExt cx="21336000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36000" cy="19050"/>
            </a:xfrm>
            <a:custGeom>
              <a:avLst/>
              <a:gdLst/>
              <a:ahLst/>
              <a:cxnLst/>
              <a:rect r="r" b="b" t="t" l="l"/>
              <a:pathLst>
                <a:path h="190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3000" y="5879306"/>
            <a:ext cx="16002000" cy="14288"/>
            <a:chOff x="0" y="0"/>
            <a:chExt cx="213360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19050"/>
            </a:xfrm>
            <a:custGeom>
              <a:avLst/>
              <a:gdLst/>
              <a:ahLst/>
              <a:cxnLst/>
              <a:rect r="r" b="b" t="t" l="l"/>
              <a:pathLst>
                <a:path h="190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7036594"/>
            <a:ext cx="16002000" cy="14288"/>
            <a:chOff x="0" y="0"/>
            <a:chExt cx="213360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19050"/>
            </a:xfrm>
            <a:custGeom>
              <a:avLst/>
              <a:gdLst/>
              <a:ahLst/>
              <a:cxnLst/>
              <a:rect r="r" b="b" t="t" l="l"/>
              <a:pathLst>
                <a:path h="190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7036594"/>
            <a:ext cx="16002000" cy="14288"/>
            <a:chOff x="0" y="0"/>
            <a:chExt cx="21336000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36000" cy="19050"/>
            </a:xfrm>
            <a:custGeom>
              <a:avLst/>
              <a:gdLst/>
              <a:ahLst/>
              <a:cxnLst/>
              <a:rect r="r" b="b" t="t" l="l"/>
              <a:pathLst>
                <a:path h="190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3000" y="3793331"/>
            <a:ext cx="1285875" cy="714375"/>
            <a:chOff x="0" y="0"/>
            <a:chExt cx="1714500" cy="9525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714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786062" y="3864769"/>
            <a:ext cx="143589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https://chancellery.utm.my/wp-content/uploads/sites/23/2020/01/LOGO-UTM.png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86062" y="4164806"/>
            <a:ext cx="14358938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corporate.utm.my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3000" y="4950619"/>
            <a:ext cx="1285875" cy="714375"/>
            <a:chOff x="0" y="0"/>
            <a:chExt cx="1714500" cy="9525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714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786062" y="5022056"/>
            <a:ext cx="143589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https://img.magnific.com/premium-photo/kuala-lumpur-skyline-with-petronas-twin-towers-dusk_946209-18453.jpg?semt=ais_hybrid&amp;w=740&amp;q=80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86062" y="5322094"/>
            <a:ext cx="14358938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www.magnific.com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3000" y="6107906"/>
            <a:ext cx="1285875" cy="714375"/>
            <a:chOff x="0" y="0"/>
            <a:chExt cx="1714500" cy="9525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714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2786062" y="6179344"/>
            <a:ext cx="143589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https://cdn.prod.website-files.com/68da32b2041c593b0511a582/68e51ad16872234577515bf4_nlp.png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86062" y="6479381"/>
            <a:ext cx="14358938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kili-technology.com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43000" y="7265194"/>
            <a:ext cx="1285875" cy="714375"/>
            <a:chOff x="0" y="0"/>
            <a:chExt cx="1714500" cy="9525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1714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00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2786062" y="7336631"/>
            <a:ext cx="143589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https://datavidhya.com/_next/image/?url=https%3A%2F%2Fdatavidhya-revamp.s3.amazonaws.com%2Fprojects%2Fimages%2F9.png&amp;w=3840&amp;q=100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786062" y="7636669"/>
            <a:ext cx="14358938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datavidhya.com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DAHN3Rma3xM</dc:identifier>
  <dcterms:modified xsi:type="dcterms:W3CDTF">2011-08-01T06:04:30Z</dcterms:modified>
  <cp:revision>1</cp:revision>
  <dc:title>presentation_slides.pptx</dc:title>
</cp:coreProperties>
</file>