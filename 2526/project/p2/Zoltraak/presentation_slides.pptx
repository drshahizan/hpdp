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Montserrat SemiBold"/>
      <p:regular r:id="rId20"/>
      <p:bold r:id="rId21"/>
      <p:italic r:id="rId22"/>
      <p:boldItalic r:id="rId23"/>
    </p:embeddedFont>
    <p:embeddedFont>
      <p:font typeface="Playfair Display"/>
      <p:regular r:id="rId24"/>
      <p:bold r:id="rId25"/>
      <p:italic r:id="rId26"/>
      <p:boldItalic r:id="rId27"/>
    </p:embeddedFont>
    <p:embeddedFont>
      <p:font typeface="Montserrat"/>
      <p:regular r:id="rId28"/>
      <p:bold r:id="rId29"/>
      <p:italic r:id="rId30"/>
      <p:boldItalic r:id="rId31"/>
    </p:embeddedFont>
    <p:embeddedFont>
      <p:font typeface="Montserrat Medium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BCD8164-DAA8-4F9E-88E6-1397E7728CC6}">
  <a:tblStyle styleId="{9BCD8164-DAA8-4F9E-88E6-1397E7728CC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SemiBold-regular.fntdata"/><Relationship Id="rId22" Type="http://schemas.openxmlformats.org/officeDocument/2006/relationships/font" Target="fonts/MontserratSemiBold-italic.fntdata"/><Relationship Id="rId21" Type="http://schemas.openxmlformats.org/officeDocument/2006/relationships/font" Target="fonts/MontserratSemiBold-bold.fntdata"/><Relationship Id="rId24" Type="http://schemas.openxmlformats.org/officeDocument/2006/relationships/font" Target="fonts/PlayfairDisplay-regular.fntdata"/><Relationship Id="rId23" Type="http://schemas.openxmlformats.org/officeDocument/2006/relationships/font" Target="fonts/Montserrat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layfairDisplay-italic.fntdata"/><Relationship Id="rId25" Type="http://schemas.openxmlformats.org/officeDocument/2006/relationships/font" Target="fonts/PlayfairDisplay-bold.fntdata"/><Relationship Id="rId28" Type="http://schemas.openxmlformats.org/officeDocument/2006/relationships/font" Target="fonts/Montserrat-regular.fntdata"/><Relationship Id="rId27" Type="http://schemas.openxmlformats.org/officeDocument/2006/relationships/font" Target="fonts/PlayfairDisplay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-boldItalic.fntdata"/><Relationship Id="rId30" Type="http://schemas.openxmlformats.org/officeDocument/2006/relationships/font" Target="fonts/Montserrat-italic.fntdata"/><Relationship Id="rId11" Type="http://schemas.openxmlformats.org/officeDocument/2006/relationships/slide" Target="slides/slide5.xml"/><Relationship Id="rId33" Type="http://schemas.openxmlformats.org/officeDocument/2006/relationships/font" Target="fonts/MontserratMedium-bold.fntdata"/><Relationship Id="rId10" Type="http://schemas.openxmlformats.org/officeDocument/2006/relationships/slide" Target="slides/slide4.xml"/><Relationship Id="rId32" Type="http://schemas.openxmlformats.org/officeDocument/2006/relationships/font" Target="fonts/MontserratMedium-regular.fntdata"/><Relationship Id="rId13" Type="http://schemas.openxmlformats.org/officeDocument/2006/relationships/slide" Target="slides/slide7.xml"/><Relationship Id="rId35" Type="http://schemas.openxmlformats.org/officeDocument/2006/relationships/font" Target="fonts/MontserratMedium-boldItalic.fntdata"/><Relationship Id="rId12" Type="http://schemas.openxmlformats.org/officeDocument/2006/relationships/slide" Target="slides/slide6.xml"/><Relationship Id="rId34" Type="http://schemas.openxmlformats.org/officeDocument/2006/relationships/font" Target="fonts/MontserratMedium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28.png"/><Relationship Id="rId5" Type="http://schemas.openxmlformats.org/officeDocument/2006/relationships/image" Target="../media/image7.png"/><Relationship Id="rId6" Type="http://schemas.openxmlformats.org/officeDocument/2006/relationships/image" Target="../media/image10.png"/><Relationship Id="rId7" Type="http://schemas.openxmlformats.org/officeDocument/2006/relationships/image" Target="../media/image4.png"/><Relationship Id="rId8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11.png"/><Relationship Id="rId6" Type="http://schemas.openxmlformats.org/officeDocument/2006/relationships/image" Target="../media/image30.png"/><Relationship Id="rId7" Type="http://schemas.openxmlformats.org/officeDocument/2006/relationships/image" Target="../media/image8.png"/><Relationship Id="rId8" Type="http://schemas.openxmlformats.org/officeDocument/2006/relationships/image" Target="../media/image2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Relationship Id="rId6" Type="http://schemas.openxmlformats.org/officeDocument/2006/relationships/image" Target="../media/image17.png"/><Relationship Id="rId7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2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21.png"/><Relationship Id="rId5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2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22.png"/><Relationship Id="rId5" Type="http://schemas.openxmlformats.org/officeDocument/2006/relationships/image" Target="../media/image20.png"/><Relationship Id="rId6" Type="http://schemas.openxmlformats.org/officeDocument/2006/relationships/image" Target="../media/image23.png"/><Relationship Id="rId7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4913560"/>
            <a:ext cx="857250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0" y="591740"/>
            <a:ext cx="3048000" cy="1018728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4210050" y="2124819"/>
            <a:ext cx="37719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Faculty of Computing | SECP3133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815464" y="2496294"/>
            <a:ext cx="8561070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8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YouTube Sentiment Analysis: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8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Cost of Living in Malaysia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605212" y="4256335"/>
            <a:ext cx="49815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High Performance Data Processing Project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3876675" y="5961310"/>
            <a:ext cx="44386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LECTURER: PROF. MADYA. TS. DR MOHD SHAHIZAN BIN OTHMAN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1809750" y="5218360"/>
            <a:ext cx="27304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Afiq Danial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 A23CS0117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4730650" y="5218360"/>
            <a:ext cx="273054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Adib Zikri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 A23CS0205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7651700" y="5218360"/>
            <a:ext cx="27304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Dheshieghan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 A23CS0072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00000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5680948" y="1771650"/>
            <a:ext cx="830103" cy="1019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01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3295650" y="2981325"/>
            <a:ext cx="56007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Project Foundations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5619750" y="4029075"/>
            <a:ext cx="952500" cy="381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3228975" y="4581525"/>
            <a:ext cx="57340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Understanding the context, objectives, and scope.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0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952500" y="571500"/>
            <a:ext cx="11001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Background &amp; Context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762000" y="571500"/>
            <a:ext cx="76200" cy="6096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762000" y="6400800"/>
            <a:ext cx="29813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UNIVERSITI TEKNOLOGI MALAYSIA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762000" y="2336006"/>
            <a:ext cx="5048250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Social media platforms generate vast amounts of unstructured public opinion daily. YouTube's comment section provides spontaneous, raw feedback on national issues.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762000" y="4171950"/>
            <a:ext cx="5048250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This project focuses on identifying sentiments regarding the </a:t>
            </a:r>
            <a:r>
              <a:rPr b="1" i="0" lang="en-US" sz="1650" u="none" cap="none" strike="noStrike">
                <a:solidFill>
                  <a:srgbClr val="800000"/>
                </a:solidFill>
                <a:latin typeface="Montserrat"/>
                <a:ea typeface="Montserrat"/>
                <a:cs typeface="Montserrat"/>
                <a:sym typeface="Montserrat"/>
              </a:rPr>
              <a:t>Cost of Living in Malaysia (2025-2026)</a:t>
            </a:r>
            <a:r>
              <a:rPr b="0" i="0" lang="en-US" sz="1650" u="none" cap="none" strike="noStrike">
                <a:solidFill>
                  <a:srgbClr val="8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capturing public concerns about inflation, migration, and quality of life at scale.</a:t>
            </a:r>
            <a:endParaRPr/>
          </a:p>
        </p:txBody>
      </p:sp>
      <p:pic>
        <p:nvPicPr>
          <p:cNvPr descr="image.png" id="113" name="Google Shape;11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19300"/>
            <a:ext cx="504825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0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471737"/>
            <a:ext cx="3365450" cy="2905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2471737"/>
            <a:ext cx="3365450" cy="2905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471737"/>
            <a:ext cx="3365450" cy="2905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952500" y="571500"/>
            <a:ext cx="11001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Key Project Objectives</a:t>
            </a:r>
            <a:endParaRPr/>
          </a:p>
        </p:txBody>
      </p:sp>
      <p:sp>
        <p:nvSpPr>
          <p:cNvPr id="123" name="Google Shape;123;p16"/>
          <p:cNvSpPr/>
          <p:nvPr/>
        </p:nvSpPr>
        <p:spPr>
          <a:xfrm>
            <a:off x="762000" y="571500"/>
            <a:ext cx="76200" cy="6096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1077913" y="3671887"/>
            <a:ext cx="273362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8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Data Harvesting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1143000" y="4062412"/>
            <a:ext cx="26034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Collect representative datasets of YouTube comments using the Data API v3 focusing on economic videos.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4729114" y="3671887"/>
            <a:ext cx="273362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8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Model Optimization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4794200" y="4062412"/>
            <a:ext cx="2603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Train and compare classical ML (SVM) and Deep Learning (LSTM) for optimal classification.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380314" y="3671887"/>
            <a:ext cx="273362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8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Real-time Pipeline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8445400" y="4062412"/>
            <a:ext cx="2603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Integrate Apache Kafka and Spark Structured Streaming for near-instant sentiment processing.</a:t>
            </a:r>
            <a:endParaRPr/>
          </a:p>
        </p:txBody>
      </p:sp>
      <p:pic>
        <p:nvPicPr>
          <p:cNvPr descr="image.png" id="130" name="Google Shape;13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44613" y="2890837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57726" y="289083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47014" y="2890837"/>
            <a:ext cx="600075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0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952500" y="571500"/>
            <a:ext cx="11001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Primary Data Sources</a:t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762000" y="571500"/>
            <a:ext cx="76200" cy="6096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762000" y="2157412"/>
            <a:ext cx="10668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Scraped from 6 High-Engagement YouTube Videos:</a:t>
            </a:r>
            <a:endParaRPr/>
          </a:p>
        </p:txBody>
      </p:sp>
      <p:graphicFrame>
        <p:nvGraphicFramePr>
          <p:cNvPr id="141" name="Google Shape;141;p17"/>
          <p:cNvGraphicFramePr/>
          <p:nvPr/>
        </p:nvGraphicFramePr>
        <p:xfrm>
          <a:off x="762000" y="25288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{9BCD8164-DAA8-4F9E-88E6-1397E7728CC6}</a:tableStyleId>
              </a:tblPr>
              <a:tblGrid>
                <a:gridCol w="4267200"/>
                <a:gridCol w="6400800"/>
              </a:tblGrid>
              <a:tr h="56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Video Title Reference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Context &amp; Focus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</a:tr>
              <a:tr h="56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Cost of Living in Malaysia per Month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Focuses on relocation expenses for expat families.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Singapore vs Malaysia: 2026 Comparison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A0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Cost analysis between neighboring economies.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A059"/>
                    </a:solidFill>
                  </a:tcPr>
                </a:tc>
              </a:tr>
              <a:tr h="56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INFLASI: Singapura Gusar, Malaysia Henti Eksport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Economic friction and supply chain disruptions.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Pros &amp; Cons of Living in KL (2025)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A0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Affordability, tax-friendly policies, and drawbacks.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A059"/>
                    </a:solidFill>
                  </a:tcPr>
                </a:tc>
              </a:tr>
            </a:tbl>
          </a:graphicData>
        </a:graphic>
      </p:graphicFrame>
      <p:sp>
        <p:nvSpPr>
          <p:cNvPr id="142" name="Google Shape;142;p17"/>
          <p:cNvSpPr txBox="1"/>
          <p:nvPr/>
        </p:nvSpPr>
        <p:spPr>
          <a:xfrm>
            <a:off x="762000" y="5538787"/>
            <a:ext cx="10668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Total raw dataset: 5,388 records including metadata.</a:t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762000" y="3609975"/>
            <a:ext cx="4267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5029200" y="3609975"/>
            <a:ext cx="6400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762000" y="4114800"/>
            <a:ext cx="4267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5029200" y="4114800"/>
            <a:ext cx="6400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762000" y="4829175"/>
            <a:ext cx="4267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5029200" y="4829175"/>
            <a:ext cx="6400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762000" y="5334000"/>
            <a:ext cx="4267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5029200" y="5334000"/>
            <a:ext cx="6400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0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952500" y="571500"/>
            <a:ext cx="11001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Preprocessing Pipeline</a:t>
            </a:r>
            <a:endParaRPr/>
          </a:p>
        </p:txBody>
      </p:sp>
      <p:sp>
        <p:nvSpPr>
          <p:cNvPr id="157" name="Google Shape;157;p18"/>
          <p:cNvSpPr/>
          <p:nvPr/>
        </p:nvSpPr>
        <p:spPr>
          <a:xfrm>
            <a:off x="762000" y="571500"/>
            <a:ext cx="76200" cy="6096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8" name="Google Shape;15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781175"/>
            <a:ext cx="50482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6829425" y="2190750"/>
            <a:ext cx="46005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Noise Removal: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 HTML entity decoding, URL stripping, @mention removal, and digit collapsing.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6800850" y="3114675"/>
            <a:ext cx="46291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Tokenization: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 Splitting cleaned text into individual word tokens via NLTK word_tokenize().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6800850" y="4038600"/>
            <a:ext cx="46291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Stop Word Removal: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 Combining 198 English and 1,057 Malay stop words using the Malaya library.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6829425" y="4962525"/>
            <a:ext cx="46005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Lemmatization: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 Base dictionary form reduction (English only) via spaCy en_core_web_sm.</a:t>
            </a:r>
            <a:endParaRPr/>
          </a:p>
        </p:txBody>
      </p:sp>
      <p:pic>
        <p:nvPicPr>
          <p:cNvPr descr="image.png" id="163" name="Google Shape;16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219325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1432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0" y="40671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81750" y="4991100"/>
            <a:ext cx="2571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0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1" name="Google Shape;17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366516"/>
            <a:ext cx="5048250" cy="31155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366516"/>
            <a:ext cx="5048250" cy="31155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43000" y="3909566"/>
            <a:ext cx="4286250" cy="639067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952500" y="571500"/>
            <a:ext cx="11001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Sentiment Modeling Approach</a:t>
            </a:r>
            <a:endParaRPr/>
          </a:p>
        </p:txBody>
      </p:sp>
      <p:sp>
        <p:nvSpPr>
          <p:cNvPr id="176" name="Google Shape;176;p19"/>
          <p:cNvSpPr/>
          <p:nvPr/>
        </p:nvSpPr>
        <p:spPr>
          <a:xfrm>
            <a:off x="762000" y="571500"/>
            <a:ext cx="76200" cy="6096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 txBox="1"/>
          <p:nvPr/>
        </p:nvSpPr>
        <p:spPr>
          <a:xfrm>
            <a:off x="1143000" y="2747516"/>
            <a:ext cx="450056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8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SVM Classifier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1143000" y="3176141"/>
            <a:ext cx="42862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Uses </a:t>
            </a:r>
            <a:r>
              <a:rPr b="1" i="0" lang="en-US" sz="12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TF-IDF Vectorization</a:t>
            </a:r>
            <a:r>
              <a:rPr b="0" i="0" lang="en-US" sz="12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 with 5,000 features. Finds the optimal hyperplane in high-dimensional sparse space.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1143000" y="4739133"/>
            <a:ext cx="4286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Efficient for short text data with distinct keywords.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6762750" y="2747516"/>
            <a:ext cx="450056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8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LSTM Neural Network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6762750" y="3176141"/>
            <a:ext cx="42862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 type of RNN designed to learn long-range sequential dependencies. Processes text as ordered tokens to capture semantics.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6762750" y="4566791"/>
            <a:ext cx="42862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91C1C"/>
                </a:solidFill>
                <a:latin typeface="Montserrat"/>
                <a:ea typeface="Montserrat"/>
                <a:cs typeface="Montserrat"/>
                <a:sym typeface="Montserrat"/>
              </a:rPr>
              <a:t>Finding: Prone to overfitting on small datasets.</a:t>
            </a:r>
            <a:endParaRPr/>
          </a:p>
        </p:txBody>
      </p:sp>
      <p:pic>
        <p:nvPicPr>
          <p:cNvPr descr="image.png" id="183" name="Google Shape;183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650926" y="4147691"/>
            <a:ext cx="1270396" cy="191392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6905625" y="3857178"/>
            <a:ext cx="476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6953250" y="3871466"/>
            <a:ext cx="40957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10,000 word vocabulary.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6905625" y="4038153"/>
            <a:ext cx="476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6953250" y="4052441"/>
            <a:ext cx="40957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Max sequence length: 100.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6905625" y="4219128"/>
            <a:ext cx="476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6953250" y="4233416"/>
            <a:ext cx="40957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Dense 3-class categorical output.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0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562100"/>
            <a:ext cx="10668000" cy="513397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 txBox="1"/>
          <p:nvPr/>
        </p:nvSpPr>
        <p:spPr>
          <a:xfrm>
            <a:off x="952500" y="571500"/>
            <a:ext cx="11001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Model Comparison: SVM Wins</a:t>
            </a:r>
            <a:endParaRPr/>
          </a:p>
        </p:txBody>
      </p:sp>
      <p:sp>
        <p:nvSpPr>
          <p:cNvPr id="197" name="Google Shape;197;p20"/>
          <p:cNvSpPr/>
          <p:nvPr/>
        </p:nvSpPr>
        <p:spPr>
          <a:xfrm>
            <a:off x="762000" y="571500"/>
            <a:ext cx="76200" cy="6096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762000" y="6362700"/>
            <a:ext cx="10668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SVM shows superior generalization and lower computational overhead for real-time inference.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0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3" name="Google Shape;20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1"/>
          <p:cNvSpPr txBox="1"/>
          <p:nvPr/>
        </p:nvSpPr>
        <p:spPr>
          <a:xfrm>
            <a:off x="1143000" y="762000"/>
            <a:ext cx="46005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System Architecture</a:t>
            </a:r>
            <a:endParaRPr/>
          </a:p>
        </p:txBody>
      </p:sp>
      <p:sp>
        <p:nvSpPr>
          <p:cNvPr id="206" name="Google Shape;206;p21"/>
          <p:cNvSpPr/>
          <p:nvPr/>
        </p:nvSpPr>
        <p:spPr>
          <a:xfrm>
            <a:off x="952500" y="762000"/>
            <a:ext cx="76200" cy="6096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952500" y="1752600"/>
            <a:ext cx="48006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ELK + Kafka/Spark Pipeline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952500" y="2162175"/>
            <a:ext cx="4572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The system follows a classic </a:t>
            </a:r>
            <a:r>
              <a:rPr b="1" i="0" lang="en-US" sz="135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Lambda-style streaming architecture</a:t>
            </a:r>
            <a:r>
              <a:rPr b="0" i="0" lang="en-US" sz="135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 composed of five distinct layers: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1371600" y="3181350"/>
            <a:ext cx="4152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Ingestion: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 Apache Kafka decouples producers from consumers to handle data spikes.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1371600" y="4105275"/>
            <a:ext cx="4152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Processing: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 Spark Structured Streaming performs real-time micro-batch classification.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1371600" y="5029200"/>
            <a:ext cx="4152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Storage: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 Elasticsearch provides full-text indexing and near-instant aggregations.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1371600" y="5724525"/>
            <a:ext cx="4152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Visualization: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 Kibana creates interactive dashboards and live sentiment feeds.</a:t>
            </a:r>
            <a:endParaRPr/>
          </a:p>
        </p:txBody>
      </p:sp>
      <p:pic>
        <p:nvPicPr>
          <p:cNvPr descr="image.png" id="213" name="Google Shape;21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32099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41338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50577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5753100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0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562100"/>
            <a:ext cx="10668000" cy="47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2"/>
          <p:cNvSpPr txBox="1"/>
          <p:nvPr/>
        </p:nvSpPr>
        <p:spPr>
          <a:xfrm>
            <a:off x="952500" y="571500"/>
            <a:ext cx="11001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Sentiment Analysis Results</a:t>
            </a:r>
            <a:endParaRPr/>
          </a:p>
        </p:txBody>
      </p:sp>
      <p:sp>
        <p:nvSpPr>
          <p:cNvPr id="224" name="Google Shape;224;p22"/>
          <p:cNvSpPr/>
          <p:nvPr/>
        </p:nvSpPr>
        <p:spPr>
          <a:xfrm>
            <a:off x="762000" y="571500"/>
            <a:ext cx="76200" cy="6096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0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9" name="Google Shape;22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3"/>
          <p:cNvSpPr txBox="1"/>
          <p:nvPr/>
        </p:nvSpPr>
        <p:spPr>
          <a:xfrm>
            <a:off x="952500" y="571500"/>
            <a:ext cx="11001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Performance Benchmarking</a:t>
            </a:r>
            <a:endParaRPr/>
          </a:p>
        </p:txBody>
      </p:sp>
      <p:sp>
        <p:nvSpPr>
          <p:cNvPr id="231" name="Google Shape;231;p23"/>
          <p:cNvSpPr/>
          <p:nvPr/>
        </p:nvSpPr>
        <p:spPr>
          <a:xfrm>
            <a:off x="762000" y="571500"/>
            <a:ext cx="76200" cy="6096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 txBox="1"/>
          <p:nvPr/>
        </p:nvSpPr>
        <p:spPr>
          <a:xfrm>
            <a:off x="762000" y="2047875"/>
            <a:ext cx="112014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8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Optimization: Batch vs. Streaming Mode</a:t>
            </a:r>
            <a:endParaRPr/>
          </a:p>
        </p:txBody>
      </p:sp>
      <p:graphicFrame>
        <p:nvGraphicFramePr>
          <p:cNvPr id="233" name="Google Shape;233;p23"/>
          <p:cNvGraphicFramePr/>
          <p:nvPr/>
        </p:nvGraphicFramePr>
        <p:xfrm>
          <a:off x="762000" y="25717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{9BCD8164-DAA8-4F9E-88E6-1397E7728CC6}</a:tableStyleId>
              </a:tblPr>
              <a:tblGrid>
                <a:gridCol w="2821625"/>
                <a:gridCol w="1893400"/>
                <a:gridCol w="2413250"/>
                <a:gridCol w="3539725"/>
              </a:tblGrid>
              <a:tr h="52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Performance Metric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Batch Mode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Streaming Mode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Finding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</a:tr>
              <a:tr h="52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Processing Time (s)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1.452 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6.619 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Batch is 4.6x Faster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Throughput (Rec/s)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A0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3,078.80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A0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675.36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A0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Optimized Bulk Ops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A059"/>
                    </a:solidFill>
                  </a:tcPr>
                </a:tc>
              </a:tr>
              <a:tr h="52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CPU Usage (%)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54.5 %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2.0 %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Streaming is Less Intensive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Model Accuracy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A0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0.923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A0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0.908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A0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Consistency Maintained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A059"/>
                    </a:solidFill>
                  </a:tcPr>
                </a:tc>
              </a:tr>
            </a:tbl>
          </a:graphicData>
        </a:graphic>
      </p:graphicFrame>
      <p:sp>
        <p:nvSpPr>
          <p:cNvPr id="234" name="Google Shape;234;p23"/>
          <p:cNvSpPr txBox="1"/>
          <p:nvPr/>
        </p:nvSpPr>
        <p:spPr>
          <a:xfrm>
            <a:off x="952500" y="5467350"/>
            <a:ext cx="104775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Micro-batching is essential for Spark to amortize TF-IDF transform overhead and reach higher throughput.</a:t>
            </a:r>
            <a:endParaRPr/>
          </a:p>
        </p:txBody>
      </p:sp>
      <p:sp>
        <p:nvSpPr>
          <p:cNvPr id="235" name="Google Shape;235;p23"/>
          <p:cNvSpPr/>
          <p:nvPr/>
        </p:nvSpPr>
        <p:spPr>
          <a:xfrm>
            <a:off x="762000" y="5467350"/>
            <a:ext cx="38100" cy="180975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762000" y="3652837"/>
            <a:ext cx="28216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3583632" y="3652837"/>
            <a:ext cx="18933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5477023" y="3652837"/>
            <a:ext cx="24132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7890271" y="3652837"/>
            <a:ext cx="35397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762000" y="4157662"/>
            <a:ext cx="28216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3583632" y="4157662"/>
            <a:ext cx="18933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5477023" y="4157662"/>
            <a:ext cx="24132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/>
          <p:nvPr/>
        </p:nvSpPr>
        <p:spPr>
          <a:xfrm>
            <a:off x="7890271" y="4157662"/>
            <a:ext cx="35397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3"/>
          <p:cNvSpPr/>
          <p:nvPr/>
        </p:nvSpPr>
        <p:spPr>
          <a:xfrm>
            <a:off x="762000" y="4662487"/>
            <a:ext cx="28216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3583632" y="4662487"/>
            <a:ext cx="18933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5477023" y="4662487"/>
            <a:ext cx="24132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7890271" y="4662487"/>
            <a:ext cx="35397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762000" y="5167312"/>
            <a:ext cx="28216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3583632" y="5167312"/>
            <a:ext cx="18933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5477023" y="5167312"/>
            <a:ext cx="24132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7890271" y="5167312"/>
            <a:ext cx="35397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0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6" name="Google Shape;25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552825"/>
            <a:ext cx="10668000" cy="22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4"/>
          <p:cNvSpPr txBox="1"/>
          <p:nvPr/>
        </p:nvSpPr>
        <p:spPr>
          <a:xfrm>
            <a:off x="4135830" y="2919413"/>
            <a:ext cx="3920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8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Thank You</a:t>
            </a:r>
            <a:endParaRPr/>
          </a:p>
        </p:txBody>
      </p:sp>
      <p:sp>
        <p:nvSpPr>
          <p:cNvPr id="259" name="Google Shape;259;p24"/>
          <p:cNvSpPr txBox="1"/>
          <p:nvPr/>
        </p:nvSpPr>
        <p:spPr>
          <a:xfrm>
            <a:off x="4905375" y="2609850"/>
            <a:ext cx="2381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4"/>
          <p:cNvSpPr txBox="1"/>
          <p:nvPr/>
        </p:nvSpPr>
        <p:spPr>
          <a:xfrm>
            <a:off x="1143000" y="4362450"/>
            <a:ext cx="9906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0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5" name="Google Shape;26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5"/>
          <p:cNvSpPr txBox="1"/>
          <p:nvPr/>
        </p:nvSpPr>
        <p:spPr>
          <a:xfrm>
            <a:off x="952500" y="571500"/>
            <a:ext cx="11001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Image Sources</a:t>
            </a:r>
            <a:endParaRPr/>
          </a:p>
        </p:txBody>
      </p:sp>
      <p:sp>
        <p:nvSpPr>
          <p:cNvPr id="267" name="Google Shape;267;p25"/>
          <p:cNvSpPr/>
          <p:nvPr/>
        </p:nvSpPr>
        <p:spPr>
          <a:xfrm>
            <a:off x="762000" y="571500"/>
            <a:ext cx="76200" cy="6096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5"/>
          <p:cNvSpPr/>
          <p:nvPr/>
        </p:nvSpPr>
        <p:spPr>
          <a:xfrm>
            <a:off x="762000" y="2386012"/>
            <a:ext cx="10668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5"/>
          <p:cNvSpPr/>
          <p:nvPr/>
        </p:nvSpPr>
        <p:spPr>
          <a:xfrm>
            <a:off x="762000" y="3157537"/>
            <a:ext cx="10668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5"/>
          <p:cNvSpPr/>
          <p:nvPr/>
        </p:nvSpPr>
        <p:spPr>
          <a:xfrm>
            <a:off x="762000" y="3929062"/>
            <a:ext cx="10668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5"/>
          <p:cNvSpPr/>
          <p:nvPr/>
        </p:nvSpPr>
        <p:spPr>
          <a:xfrm>
            <a:off x="762000" y="3148012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5"/>
          <p:cNvSpPr/>
          <p:nvPr/>
        </p:nvSpPr>
        <p:spPr>
          <a:xfrm>
            <a:off x="762000" y="3148012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5"/>
          <p:cNvSpPr/>
          <p:nvPr/>
        </p:nvSpPr>
        <p:spPr>
          <a:xfrm>
            <a:off x="762000" y="3919537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5"/>
          <p:cNvSpPr/>
          <p:nvPr/>
        </p:nvSpPr>
        <p:spPr>
          <a:xfrm>
            <a:off x="762000" y="3919537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5"/>
          <p:cNvSpPr/>
          <p:nvPr/>
        </p:nvSpPr>
        <p:spPr>
          <a:xfrm>
            <a:off x="762000" y="4691062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5"/>
          <p:cNvSpPr/>
          <p:nvPr/>
        </p:nvSpPr>
        <p:spPr>
          <a:xfrm>
            <a:off x="762000" y="4691062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7" name="Google Shape;27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5288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5"/>
          <p:cNvSpPr txBox="1"/>
          <p:nvPr/>
        </p:nvSpPr>
        <p:spPr>
          <a:xfrm>
            <a:off x="1857375" y="2576512"/>
            <a:ext cx="95726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https://chancellery.utm.my/wp-content/uploads/sites/23/2020/01/LOGO-UTM.png</a:t>
            </a:r>
            <a:endParaRPr/>
          </a:p>
        </p:txBody>
      </p:sp>
      <p:sp>
        <p:nvSpPr>
          <p:cNvPr id="279" name="Google Shape;279;p25"/>
          <p:cNvSpPr txBox="1"/>
          <p:nvPr/>
        </p:nvSpPr>
        <p:spPr>
          <a:xfrm>
            <a:off x="1857375" y="2776537"/>
            <a:ext cx="95726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corporate.utm.my</a:t>
            </a:r>
            <a:endParaRPr/>
          </a:p>
        </p:txBody>
      </p:sp>
      <p:pic>
        <p:nvPicPr>
          <p:cNvPr descr="image.png" id="280" name="Google Shape;280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3004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5"/>
          <p:cNvSpPr txBox="1"/>
          <p:nvPr/>
        </p:nvSpPr>
        <p:spPr>
          <a:xfrm>
            <a:off x="1857375" y="3348037"/>
            <a:ext cx="95726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https://img.magnific.com/premium-photo/kuala-lumpur-skyline-with-petronas-twin-towers-dusk_946209-18453.jpg?semt=ais_hybrid&amp;w=740&amp;q=80</a:t>
            </a:r>
            <a:endParaRPr/>
          </a:p>
        </p:txBody>
      </p:sp>
      <p:sp>
        <p:nvSpPr>
          <p:cNvPr id="282" name="Google Shape;282;p25"/>
          <p:cNvSpPr txBox="1"/>
          <p:nvPr/>
        </p:nvSpPr>
        <p:spPr>
          <a:xfrm>
            <a:off x="1857375" y="3548062"/>
            <a:ext cx="95726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www.magnific.com</a:t>
            </a:r>
            <a:endParaRPr/>
          </a:p>
        </p:txBody>
      </p:sp>
      <p:pic>
        <p:nvPicPr>
          <p:cNvPr descr="image.png" id="283" name="Google Shape;283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0719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5"/>
          <p:cNvSpPr txBox="1"/>
          <p:nvPr/>
        </p:nvSpPr>
        <p:spPr>
          <a:xfrm>
            <a:off x="1857375" y="4119562"/>
            <a:ext cx="95726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https://cdn.prod.website-files.com/68da32b2041c593b0511a582/68e51ad16872234577515bf4_nlp.png</a:t>
            </a:r>
            <a:endParaRPr/>
          </a:p>
        </p:txBody>
      </p:sp>
      <p:sp>
        <p:nvSpPr>
          <p:cNvPr id="285" name="Google Shape;285;p25"/>
          <p:cNvSpPr txBox="1"/>
          <p:nvPr/>
        </p:nvSpPr>
        <p:spPr>
          <a:xfrm>
            <a:off x="1857375" y="4319587"/>
            <a:ext cx="95726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kili-technology.com</a:t>
            </a:r>
            <a:endParaRPr/>
          </a:p>
        </p:txBody>
      </p:sp>
      <p:pic>
        <p:nvPicPr>
          <p:cNvPr descr="image.png" id="286" name="Google Shape;286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48434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5"/>
          <p:cNvSpPr txBox="1"/>
          <p:nvPr/>
        </p:nvSpPr>
        <p:spPr>
          <a:xfrm>
            <a:off x="1857375" y="4891087"/>
            <a:ext cx="95726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https://datavidhya.com/_next/image/?url=https%3A%2F%2Fdatavidhya-revamp.s3.amazonaws.com%2Fprojects%2Fimages%2F9.png&amp;w=3840&amp;q=100</a:t>
            </a:r>
            <a:endParaRPr/>
          </a:p>
        </p:txBody>
      </p:sp>
      <p:sp>
        <p:nvSpPr>
          <p:cNvPr id="288" name="Google Shape;288;p25"/>
          <p:cNvSpPr txBox="1"/>
          <p:nvPr/>
        </p:nvSpPr>
        <p:spPr>
          <a:xfrm>
            <a:off x="1857375" y="5091112"/>
            <a:ext cx="95726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datavidhya.com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